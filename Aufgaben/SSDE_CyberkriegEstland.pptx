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nva Sans" panose="020B0604020202020204" charset="0"/>
      <p:regular r:id="rId7"/>
    </p:embeddedFont>
    <p:embeddedFont>
      <p:font typeface="RoxboroughCF Bold" panose="020B0604020202020204" charset="0"/>
      <p:regular r:id="rId8"/>
    </p:embeddedFont>
    <p:embeddedFont>
      <p:font typeface="Telegraf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19" y="6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daktion42.com/2025/01/14/estland-10-der-cyberangriff-auf-estland-2007-der-erste-digitale-krieg/" TargetMode="External"/><Relationship Id="rId7" Type="http://schemas.openxmlformats.org/officeDocument/2006/relationships/image" Target="../media/image2.svg"/><Relationship Id="rId2" Type="http://schemas.openxmlformats.org/officeDocument/2006/relationships/hyperlink" Target="https://cyber-peace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de.wikipedia.org/wiki/Cyberattacke_auf_Estland_2007" TargetMode="External"/><Relationship Id="rId4" Type="http://schemas.openxmlformats.org/officeDocument/2006/relationships/hyperlink" Target="https://thought2action.org/cyberspace-as-an-integral-part-of-modern-competition-lessons-from-the-2007-cyber-attack-on-estonia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81816" y="5037992"/>
            <a:ext cx="8739022" cy="1747804"/>
          </a:xfrm>
          <a:custGeom>
            <a:avLst/>
            <a:gdLst/>
            <a:ahLst/>
            <a:cxnLst/>
            <a:rect l="l" t="t" r="r" b="b"/>
            <a:pathLst>
              <a:path w="8739022" h="1747804">
                <a:moveTo>
                  <a:pt x="0" y="0"/>
                </a:moveTo>
                <a:lnTo>
                  <a:pt x="8739022" y="0"/>
                </a:lnTo>
                <a:lnTo>
                  <a:pt x="8739022" y="1747805"/>
                </a:lnTo>
                <a:lnTo>
                  <a:pt x="0" y="1747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3" name="TextBox 3"/>
          <p:cNvSpPr txBox="1"/>
          <p:nvPr/>
        </p:nvSpPr>
        <p:spPr>
          <a:xfrm>
            <a:off x="4135098" y="3314020"/>
            <a:ext cx="10134010" cy="3113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7"/>
              </a:lnSpc>
            </a:pPr>
            <a:r>
              <a:rPr lang="en-US" sz="11356" b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Cyber-Krieg gegen Estland</a:t>
            </a:r>
          </a:p>
        </p:txBody>
      </p:sp>
      <p:sp>
        <p:nvSpPr>
          <p:cNvPr id="4" name="TextBox 4"/>
          <p:cNvSpPr txBox="1"/>
          <p:nvPr/>
        </p:nvSpPr>
        <p:spPr>
          <a:xfrm rot="-484583">
            <a:off x="11445109" y="7141417"/>
            <a:ext cx="2714696" cy="4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35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28700" y="952500"/>
            <a:ext cx="6212797" cy="405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Beyza, ,Aylin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6503" y="952500"/>
            <a:ext cx="6212797" cy="405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11.09.25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8730" y="2088151"/>
            <a:ext cx="17070540" cy="1901824"/>
            <a:chOff x="0" y="0"/>
            <a:chExt cx="22760721" cy="253576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2760721" cy="2535765"/>
              <a:chOff x="0" y="0"/>
              <a:chExt cx="13038520" cy="145261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7150" y="58420"/>
                <a:ext cx="12968670" cy="1381497"/>
              </a:xfrm>
              <a:custGeom>
                <a:avLst/>
                <a:gdLst/>
                <a:ahLst/>
                <a:cxnLst/>
                <a:rect l="l" t="t" r="r" b="b"/>
                <a:pathLst>
                  <a:path w="12968670" h="1381497">
                    <a:moveTo>
                      <a:pt x="12883580" y="1351017"/>
                    </a:moveTo>
                    <a:lnTo>
                      <a:pt x="0" y="1351017"/>
                    </a:lnTo>
                    <a:cubicBezTo>
                      <a:pt x="5080" y="1368797"/>
                      <a:pt x="21590" y="1381497"/>
                      <a:pt x="40640" y="1381497"/>
                    </a:cubicBezTo>
                    <a:lnTo>
                      <a:pt x="12925490" y="1381497"/>
                    </a:lnTo>
                    <a:cubicBezTo>
                      <a:pt x="12949620" y="1381497"/>
                      <a:pt x="12968670" y="1362447"/>
                      <a:pt x="12968670" y="1338317"/>
                    </a:cubicBezTo>
                    <a:lnTo>
                      <a:pt x="12968670" y="40640"/>
                    </a:lnTo>
                    <a:cubicBezTo>
                      <a:pt x="12968670" y="21590"/>
                      <a:pt x="12955970" y="6350"/>
                      <a:pt x="12939460" y="0"/>
                    </a:cubicBezTo>
                    <a:lnTo>
                      <a:pt x="12939460" y="1295137"/>
                    </a:lnTo>
                    <a:cubicBezTo>
                      <a:pt x="12939460" y="1325617"/>
                      <a:pt x="12914060" y="1351017"/>
                      <a:pt x="12883580" y="1351017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12700" y="12700"/>
                <a:ext cx="12971210" cy="1384037"/>
              </a:xfrm>
              <a:custGeom>
                <a:avLst/>
                <a:gdLst/>
                <a:ahLst/>
                <a:cxnLst/>
                <a:rect l="l" t="t" r="r" b="b"/>
                <a:pathLst>
                  <a:path w="12971210" h="1384037">
                    <a:moveTo>
                      <a:pt x="43180" y="1384037"/>
                    </a:moveTo>
                    <a:lnTo>
                      <a:pt x="12928030" y="1384037"/>
                    </a:lnTo>
                    <a:cubicBezTo>
                      <a:pt x="12952160" y="1384037"/>
                      <a:pt x="12971210" y="1364987"/>
                      <a:pt x="12971210" y="1340857"/>
                    </a:cubicBezTo>
                    <a:lnTo>
                      <a:pt x="12971210" y="43180"/>
                    </a:lnTo>
                    <a:cubicBezTo>
                      <a:pt x="12971210" y="19050"/>
                      <a:pt x="12952160" y="0"/>
                      <a:pt x="12928030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340857"/>
                    </a:lnTo>
                    <a:cubicBezTo>
                      <a:pt x="0" y="1364987"/>
                      <a:pt x="19050" y="1384037"/>
                      <a:pt x="43180" y="1384037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0" y="0"/>
                <a:ext cx="13038520" cy="1452617"/>
              </a:xfrm>
              <a:custGeom>
                <a:avLst/>
                <a:gdLst/>
                <a:ahLst/>
                <a:cxnLst/>
                <a:rect l="l" t="t" r="r" b="b"/>
                <a:pathLst>
                  <a:path w="13038520" h="1452617">
                    <a:moveTo>
                      <a:pt x="12995340" y="44450"/>
                    </a:moveTo>
                    <a:cubicBezTo>
                      <a:pt x="12990260" y="19050"/>
                      <a:pt x="12967400" y="0"/>
                      <a:pt x="12940730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353557"/>
                    </a:lnTo>
                    <a:cubicBezTo>
                      <a:pt x="0" y="1380227"/>
                      <a:pt x="17780" y="1401817"/>
                      <a:pt x="43180" y="1408167"/>
                    </a:cubicBezTo>
                    <a:cubicBezTo>
                      <a:pt x="48260" y="1433567"/>
                      <a:pt x="71120" y="1452617"/>
                      <a:pt x="97790" y="1452617"/>
                    </a:cubicBezTo>
                    <a:lnTo>
                      <a:pt x="12982640" y="1452617"/>
                    </a:lnTo>
                    <a:cubicBezTo>
                      <a:pt x="13013120" y="1452617"/>
                      <a:pt x="13038520" y="1427217"/>
                      <a:pt x="13038520" y="1396737"/>
                    </a:cubicBezTo>
                    <a:lnTo>
                      <a:pt x="13038520" y="99060"/>
                    </a:lnTo>
                    <a:cubicBezTo>
                      <a:pt x="13038520" y="72390"/>
                      <a:pt x="13020740" y="50800"/>
                      <a:pt x="12995340" y="44450"/>
                    </a:cubicBezTo>
                    <a:close/>
                    <a:moveTo>
                      <a:pt x="12700" y="1353557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12940730" y="12700"/>
                    </a:lnTo>
                    <a:cubicBezTo>
                      <a:pt x="12964860" y="12700"/>
                      <a:pt x="12983910" y="31750"/>
                      <a:pt x="12983910" y="55880"/>
                    </a:cubicBezTo>
                    <a:lnTo>
                      <a:pt x="12983910" y="1353557"/>
                    </a:lnTo>
                    <a:cubicBezTo>
                      <a:pt x="12983910" y="1377687"/>
                      <a:pt x="12964860" y="1396737"/>
                      <a:pt x="12940730" y="1396737"/>
                    </a:cubicBezTo>
                    <a:lnTo>
                      <a:pt x="55880" y="1396737"/>
                    </a:lnTo>
                    <a:cubicBezTo>
                      <a:pt x="31750" y="1396737"/>
                      <a:pt x="12700" y="1377687"/>
                      <a:pt x="12700" y="1353557"/>
                    </a:cubicBezTo>
                    <a:close/>
                    <a:moveTo>
                      <a:pt x="13025820" y="1396737"/>
                    </a:moveTo>
                    <a:cubicBezTo>
                      <a:pt x="13025820" y="1420867"/>
                      <a:pt x="13006770" y="1439917"/>
                      <a:pt x="12982640" y="1439917"/>
                    </a:cubicBezTo>
                    <a:lnTo>
                      <a:pt x="97790" y="1439917"/>
                    </a:lnTo>
                    <a:cubicBezTo>
                      <a:pt x="78740" y="1439917"/>
                      <a:pt x="62230" y="1427217"/>
                      <a:pt x="57150" y="1409437"/>
                    </a:cubicBezTo>
                    <a:lnTo>
                      <a:pt x="12940730" y="1409437"/>
                    </a:lnTo>
                    <a:cubicBezTo>
                      <a:pt x="12971210" y="1409437"/>
                      <a:pt x="12996610" y="1384037"/>
                      <a:pt x="12996610" y="1353557"/>
                    </a:cubicBezTo>
                    <a:lnTo>
                      <a:pt x="12996610" y="58420"/>
                    </a:lnTo>
                    <a:cubicBezTo>
                      <a:pt x="13013120" y="64770"/>
                      <a:pt x="13025820" y="80010"/>
                      <a:pt x="13025820" y="99060"/>
                    </a:cubicBezTo>
                    <a:lnTo>
                      <a:pt x="13025820" y="139673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664356" y="649947"/>
              <a:ext cx="1235871" cy="1235871"/>
            </a:xfrm>
            <a:custGeom>
              <a:avLst/>
              <a:gdLst/>
              <a:ahLst/>
              <a:cxnLst/>
              <a:rect l="l" t="t" r="r" b="b"/>
              <a:pathLst>
                <a:path w="1235871" h="1235871">
                  <a:moveTo>
                    <a:pt x="0" y="0"/>
                  </a:moveTo>
                  <a:lnTo>
                    <a:pt x="1235871" y="0"/>
                  </a:lnTo>
                  <a:lnTo>
                    <a:pt x="1235871" y="1235871"/>
                  </a:lnTo>
                  <a:lnTo>
                    <a:pt x="0" y="1235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35265" y="4351319"/>
            <a:ext cx="7608735" cy="2105117"/>
            <a:chOff x="0" y="0"/>
            <a:chExt cx="10144980" cy="280682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409861" cy="1635158"/>
              <a:chOff x="0" y="0"/>
              <a:chExt cx="5475077" cy="635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475077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5475077" h="6350000">
                    <a:moveTo>
                      <a:pt x="2737539" y="0"/>
                    </a:moveTo>
                    <a:cubicBezTo>
                      <a:pt x="1225638" y="0"/>
                      <a:pt x="0" y="1421496"/>
                      <a:pt x="0" y="3175000"/>
                    </a:cubicBezTo>
                    <a:cubicBezTo>
                      <a:pt x="0" y="4928504"/>
                      <a:pt x="1225638" y="6350000"/>
                      <a:pt x="2737539" y="6350000"/>
                    </a:cubicBezTo>
                    <a:cubicBezTo>
                      <a:pt x="4249439" y="6350000"/>
                      <a:pt x="5475077" y="4928504"/>
                      <a:pt x="5475077" y="3175000"/>
                    </a:cubicBezTo>
                    <a:cubicBezTo>
                      <a:pt x="5475077" y="1421496"/>
                      <a:pt x="4249439" y="0"/>
                      <a:pt x="273753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59680" y="33198"/>
              <a:ext cx="890501" cy="1435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019"/>
                </a:lnSpc>
                <a:spcBef>
                  <a:spcPct val="0"/>
                </a:spcBef>
              </a:pPr>
              <a:r>
                <a:rPr lang="en-US" sz="6442" b="1">
                  <a:solidFill>
                    <a:srgbClr val="FFFFFF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15226" y="431923"/>
              <a:ext cx="8229754" cy="2374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Russische, nicht staatliche Hackergruppe  (unbestätigt)</a:t>
              </a:r>
            </a:p>
            <a:p>
              <a:pPr algn="l">
                <a:lnSpc>
                  <a:spcPts val="3455"/>
                </a:lnSpc>
              </a:pPr>
              <a:endParaRPr lang="en-US" sz="287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l">
                <a:lnSpc>
                  <a:spcPts val="3455"/>
                </a:lnSpc>
              </a:pPr>
              <a:endParaRPr lang="en-US" sz="287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296945" y="0"/>
            <a:ext cx="11301259" cy="1935341"/>
          </a:xfrm>
          <a:custGeom>
            <a:avLst/>
            <a:gdLst/>
            <a:ahLst/>
            <a:cxnLst/>
            <a:rect l="l" t="t" r="r" b="b"/>
            <a:pathLst>
              <a:path w="11301259" h="1935341">
                <a:moveTo>
                  <a:pt x="0" y="0"/>
                </a:moveTo>
                <a:lnTo>
                  <a:pt x="11301259" y="0"/>
                </a:lnTo>
                <a:lnTo>
                  <a:pt x="11301259" y="1935341"/>
                </a:lnTo>
                <a:lnTo>
                  <a:pt x="0" y="1935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4" name="TextBox 14"/>
          <p:cNvSpPr txBox="1"/>
          <p:nvPr/>
        </p:nvSpPr>
        <p:spPr>
          <a:xfrm>
            <a:off x="2471621" y="2684927"/>
            <a:ext cx="17149765" cy="717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64"/>
              </a:lnSpc>
            </a:pPr>
            <a:r>
              <a:rPr lang="en-US" sz="4800" b="1" dirty="0" err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Wer</a:t>
            </a:r>
            <a:r>
              <a:rPr lang="en-US" sz="4800" b="1" dirty="0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/</a:t>
            </a:r>
            <a:r>
              <a:rPr lang="en-US" sz="4800" b="1" dirty="0" err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welche</a:t>
            </a:r>
            <a:r>
              <a:rPr lang="en-US" sz="4800" b="1" dirty="0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 Gruppe hat den </a:t>
            </a:r>
            <a:r>
              <a:rPr lang="en-US" sz="4800" b="1" dirty="0" err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Vorfall</a:t>
            </a:r>
            <a:r>
              <a:rPr lang="en-US" sz="4800" b="1" dirty="0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durchgeführt</a:t>
            </a:r>
            <a:endParaRPr lang="en-US" sz="4800" b="1" dirty="0">
              <a:solidFill>
                <a:srgbClr val="000000"/>
              </a:solidFill>
              <a:latin typeface="RoxboroughCF Bold"/>
              <a:ea typeface="RoxboroughCF Bold"/>
              <a:cs typeface="RoxboroughCF Bold"/>
              <a:sym typeface="RoxboroughCF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2142413" y="8297248"/>
            <a:ext cx="7127679" cy="1425536"/>
          </a:xfrm>
          <a:custGeom>
            <a:avLst/>
            <a:gdLst/>
            <a:ahLst/>
            <a:cxnLst/>
            <a:rect l="l" t="t" r="r" b="b"/>
            <a:pathLst>
              <a:path w="7127679" h="1425536">
                <a:moveTo>
                  <a:pt x="0" y="0"/>
                </a:moveTo>
                <a:lnTo>
                  <a:pt x="7127680" y="0"/>
                </a:lnTo>
                <a:lnTo>
                  <a:pt x="7127680" y="1425536"/>
                </a:lnTo>
                <a:lnTo>
                  <a:pt x="0" y="14255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16" name="Group 16"/>
          <p:cNvGrpSpPr/>
          <p:nvPr/>
        </p:nvGrpSpPr>
        <p:grpSpPr>
          <a:xfrm>
            <a:off x="9144000" y="4351319"/>
            <a:ext cx="8824618" cy="1226369"/>
            <a:chOff x="0" y="0"/>
            <a:chExt cx="11766158" cy="163515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635158" cy="1635158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01177" y="33198"/>
              <a:ext cx="1032804" cy="1435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019"/>
                </a:lnSpc>
                <a:spcBef>
                  <a:spcPct val="0"/>
                </a:spcBef>
              </a:pPr>
              <a:r>
                <a:rPr lang="en-US" sz="6442" b="1">
                  <a:solidFill>
                    <a:srgbClr val="FFFFFF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21281" y="431923"/>
              <a:ext cx="9544877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Patriotische Gruppen beteiligt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35265" y="7068431"/>
            <a:ext cx="8824618" cy="1228817"/>
            <a:chOff x="0" y="0"/>
            <a:chExt cx="11766158" cy="163842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635158" cy="1635158"/>
              <a:chOff x="0" y="0"/>
              <a:chExt cx="6350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01177" y="33198"/>
              <a:ext cx="1032804" cy="1435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019"/>
                </a:lnSpc>
                <a:spcBef>
                  <a:spcPct val="0"/>
                </a:spcBef>
              </a:pPr>
              <a:r>
                <a:rPr lang="en-US" sz="6442" b="1">
                  <a:solidFill>
                    <a:srgbClr val="FFFFFF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21281" y="431923"/>
              <a:ext cx="9544877" cy="1206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Organisationen über </a:t>
              </a:r>
            </a:p>
            <a:p>
              <a:pPr algn="l">
                <a:lnSpc>
                  <a:spcPts val="3455"/>
                </a:lnSpc>
              </a:pPr>
              <a:r>
                <a:rPr lang="en-US" sz="287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Internet Foren 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6875935"/>
            <a:ext cx="7863580" cy="1666967"/>
            <a:chOff x="0" y="0"/>
            <a:chExt cx="10484773" cy="2222623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457082" cy="1635158"/>
              <a:chOff x="0" y="0"/>
              <a:chExt cx="5658458" cy="6350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658458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5658458" h="6350000">
                    <a:moveTo>
                      <a:pt x="2829229" y="0"/>
                    </a:moveTo>
                    <a:cubicBezTo>
                      <a:pt x="1266689" y="0"/>
                      <a:pt x="0" y="1421496"/>
                      <a:pt x="0" y="3175000"/>
                    </a:cubicBezTo>
                    <a:cubicBezTo>
                      <a:pt x="0" y="4928504"/>
                      <a:pt x="1266689" y="6350000"/>
                      <a:pt x="2829229" y="6350000"/>
                    </a:cubicBezTo>
                    <a:cubicBezTo>
                      <a:pt x="4391769" y="6350000"/>
                      <a:pt x="5658458" y="4928504"/>
                      <a:pt x="5658458" y="3175000"/>
                    </a:cubicBezTo>
                    <a:cubicBezTo>
                      <a:pt x="5658458" y="1421496"/>
                      <a:pt x="4391769" y="0"/>
                      <a:pt x="28292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68377" y="33198"/>
              <a:ext cx="920328" cy="1435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019"/>
                </a:lnSpc>
                <a:spcBef>
                  <a:spcPct val="0"/>
                </a:spcBef>
              </a:pPr>
              <a:r>
                <a:rPr lang="en-US" sz="6442" b="1">
                  <a:solidFill>
                    <a:srgbClr val="FFFFFF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9374" y="431923"/>
              <a:ext cx="8505399" cy="1790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55"/>
                </a:lnSpc>
              </a:pPr>
              <a:r>
                <a:rPr lang="en-US" sz="287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Jugendgruppe</a:t>
              </a:r>
              <a:r>
                <a:rPr lang="en-US" sz="287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“Nashi” (</a:t>
              </a:r>
              <a:r>
                <a:rPr lang="en-US" sz="287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verdächtigt</a:t>
              </a:r>
              <a:r>
                <a:rPr lang="en-US" sz="287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)</a:t>
              </a:r>
            </a:p>
            <a:p>
              <a:pPr algn="l">
                <a:lnSpc>
                  <a:spcPts val="3455"/>
                </a:lnSpc>
              </a:pPr>
              <a:r>
                <a:rPr lang="en-US" sz="287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steht</a:t>
              </a:r>
              <a:r>
                <a:rPr lang="en-US" sz="287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der </a:t>
              </a:r>
              <a:r>
                <a:rPr lang="en-US" sz="287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russischen</a:t>
              </a:r>
              <a:r>
                <a:rPr lang="en-US" sz="287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87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Regierung</a:t>
              </a:r>
              <a:r>
                <a:rPr lang="en-US" sz="287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87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zunahe</a:t>
              </a:r>
              <a:endParaRPr lang="en-US" sz="287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8730" y="2088151"/>
            <a:ext cx="17070540" cy="1901824"/>
            <a:chOff x="0" y="0"/>
            <a:chExt cx="22760721" cy="253576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2760721" cy="2535765"/>
              <a:chOff x="0" y="0"/>
              <a:chExt cx="13038520" cy="145261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7150" y="58420"/>
                <a:ext cx="12968670" cy="1381497"/>
              </a:xfrm>
              <a:custGeom>
                <a:avLst/>
                <a:gdLst/>
                <a:ahLst/>
                <a:cxnLst/>
                <a:rect l="l" t="t" r="r" b="b"/>
                <a:pathLst>
                  <a:path w="12968670" h="1381497">
                    <a:moveTo>
                      <a:pt x="12883580" y="1351017"/>
                    </a:moveTo>
                    <a:lnTo>
                      <a:pt x="0" y="1351017"/>
                    </a:lnTo>
                    <a:cubicBezTo>
                      <a:pt x="5080" y="1368797"/>
                      <a:pt x="21590" y="1381497"/>
                      <a:pt x="40640" y="1381497"/>
                    </a:cubicBezTo>
                    <a:lnTo>
                      <a:pt x="12925490" y="1381497"/>
                    </a:lnTo>
                    <a:cubicBezTo>
                      <a:pt x="12949620" y="1381497"/>
                      <a:pt x="12968670" y="1362447"/>
                      <a:pt x="12968670" y="1338317"/>
                    </a:cubicBezTo>
                    <a:lnTo>
                      <a:pt x="12968670" y="40640"/>
                    </a:lnTo>
                    <a:cubicBezTo>
                      <a:pt x="12968670" y="21590"/>
                      <a:pt x="12955970" y="6350"/>
                      <a:pt x="12939460" y="0"/>
                    </a:cubicBezTo>
                    <a:lnTo>
                      <a:pt x="12939460" y="1295137"/>
                    </a:lnTo>
                    <a:cubicBezTo>
                      <a:pt x="12939460" y="1325617"/>
                      <a:pt x="12914060" y="1351017"/>
                      <a:pt x="12883580" y="1351017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12700" y="12700"/>
                <a:ext cx="12971210" cy="1384037"/>
              </a:xfrm>
              <a:custGeom>
                <a:avLst/>
                <a:gdLst/>
                <a:ahLst/>
                <a:cxnLst/>
                <a:rect l="l" t="t" r="r" b="b"/>
                <a:pathLst>
                  <a:path w="12971210" h="1384037">
                    <a:moveTo>
                      <a:pt x="43180" y="1384037"/>
                    </a:moveTo>
                    <a:lnTo>
                      <a:pt x="12928030" y="1384037"/>
                    </a:lnTo>
                    <a:cubicBezTo>
                      <a:pt x="12952160" y="1384037"/>
                      <a:pt x="12971210" y="1364987"/>
                      <a:pt x="12971210" y="1340857"/>
                    </a:cubicBezTo>
                    <a:lnTo>
                      <a:pt x="12971210" y="43180"/>
                    </a:lnTo>
                    <a:cubicBezTo>
                      <a:pt x="12971210" y="19050"/>
                      <a:pt x="12952160" y="0"/>
                      <a:pt x="12928030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340857"/>
                    </a:lnTo>
                    <a:cubicBezTo>
                      <a:pt x="0" y="1364987"/>
                      <a:pt x="19050" y="1384037"/>
                      <a:pt x="43180" y="1384037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0" y="0"/>
                <a:ext cx="13038520" cy="1452617"/>
              </a:xfrm>
              <a:custGeom>
                <a:avLst/>
                <a:gdLst/>
                <a:ahLst/>
                <a:cxnLst/>
                <a:rect l="l" t="t" r="r" b="b"/>
                <a:pathLst>
                  <a:path w="13038520" h="1452617">
                    <a:moveTo>
                      <a:pt x="12995340" y="44450"/>
                    </a:moveTo>
                    <a:cubicBezTo>
                      <a:pt x="12990260" y="19050"/>
                      <a:pt x="12967400" y="0"/>
                      <a:pt x="12940730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353557"/>
                    </a:lnTo>
                    <a:cubicBezTo>
                      <a:pt x="0" y="1380227"/>
                      <a:pt x="17780" y="1401817"/>
                      <a:pt x="43180" y="1408167"/>
                    </a:cubicBezTo>
                    <a:cubicBezTo>
                      <a:pt x="48260" y="1433567"/>
                      <a:pt x="71120" y="1452617"/>
                      <a:pt x="97790" y="1452617"/>
                    </a:cubicBezTo>
                    <a:lnTo>
                      <a:pt x="12982640" y="1452617"/>
                    </a:lnTo>
                    <a:cubicBezTo>
                      <a:pt x="13013120" y="1452617"/>
                      <a:pt x="13038520" y="1427217"/>
                      <a:pt x="13038520" y="1396737"/>
                    </a:cubicBezTo>
                    <a:lnTo>
                      <a:pt x="13038520" y="99060"/>
                    </a:lnTo>
                    <a:cubicBezTo>
                      <a:pt x="13038520" y="72390"/>
                      <a:pt x="13020740" y="50800"/>
                      <a:pt x="12995340" y="44450"/>
                    </a:cubicBezTo>
                    <a:close/>
                    <a:moveTo>
                      <a:pt x="12700" y="1353557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12940730" y="12700"/>
                    </a:lnTo>
                    <a:cubicBezTo>
                      <a:pt x="12964860" y="12700"/>
                      <a:pt x="12983910" y="31750"/>
                      <a:pt x="12983910" y="55880"/>
                    </a:cubicBezTo>
                    <a:lnTo>
                      <a:pt x="12983910" y="1353557"/>
                    </a:lnTo>
                    <a:cubicBezTo>
                      <a:pt x="12983910" y="1377687"/>
                      <a:pt x="12964860" y="1396737"/>
                      <a:pt x="12940730" y="1396737"/>
                    </a:cubicBezTo>
                    <a:lnTo>
                      <a:pt x="55880" y="1396737"/>
                    </a:lnTo>
                    <a:cubicBezTo>
                      <a:pt x="31750" y="1396737"/>
                      <a:pt x="12700" y="1377687"/>
                      <a:pt x="12700" y="1353557"/>
                    </a:cubicBezTo>
                    <a:close/>
                    <a:moveTo>
                      <a:pt x="13025820" y="1396737"/>
                    </a:moveTo>
                    <a:cubicBezTo>
                      <a:pt x="13025820" y="1420867"/>
                      <a:pt x="13006770" y="1439917"/>
                      <a:pt x="12982640" y="1439917"/>
                    </a:cubicBezTo>
                    <a:lnTo>
                      <a:pt x="97790" y="1439917"/>
                    </a:lnTo>
                    <a:cubicBezTo>
                      <a:pt x="78740" y="1439917"/>
                      <a:pt x="62230" y="1427217"/>
                      <a:pt x="57150" y="1409437"/>
                    </a:cubicBezTo>
                    <a:lnTo>
                      <a:pt x="12940730" y="1409437"/>
                    </a:lnTo>
                    <a:cubicBezTo>
                      <a:pt x="12971210" y="1409437"/>
                      <a:pt x="12996610" y="1384037"/>
                      <a:pt x="12996610" y="1353557"/>
                    </a:cubicBezTo>
                    <a:lnTo>
                      <a:pt x="12996610" y="58420"/>
                    </a:lnTo>
                    <a:cubicBezTo>
                      <a:pt x="13013120" y="64770"/>
                      <a:pt x="13025820" y="80010"/>
                      <a:pt x="13025820" y="99060"/>
                    </a:cubicBezTo>
                    <a:lnTo>
                      <a:pt x="13025820" y="139673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664356" y="649947"/>
              <a:ext cx="1235871" cy="1235871"/>
            </a:xfrm>
            <a:custGeom>
              <a:avLst/>
              <a:gdLst/>
              <a:ahLst/>
              <a:cxnLst/>
              <a:rect l="l" t="t" r="r" b="b"/>
              <a:pathLst>
                <a:path w="1235871" h="1235871">
                  <a:moveTo>
                    <a:pt x="0" y="0"/>
                  </a:moveTo>
                  <a:lnTo>
                    <a:pt x="1235871" y="0"/>
                  </a:lnTo>
                  <a:lnTo>
                    <a:pt x="1235871" y="1235871"/>
                  </a:lnTo>
                  <a:lnTo>
                    <a:pt x="0" y="1235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8730" y="4713874"/>
            <a:ext cx="8824618" cy="1395186"/>
            <a:chOff x="0" y="0"/>
            <a:chExt cx="11766158" cy="186024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635158" cy="1635158"/>
              <a:chOff x="0" y="0"/>
              <a:chExt cx="6350000" cy="635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01177" y="33198"/>
              <a:ext cx="1032804" cy="1441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019"/>
                </a:lnSpc>
                <a:spcBef>
                  <a:spcPct val="0"/>
                </a:spcBef>
              </a:pPr>
              <a:r>
                <a:rPr lang="en-US" sz="6442" b="1">
                  <a:solidFill>
                    <a:srgbClr val="FFFFFF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21281" y="441448"/>
              <a:ext cx="9544877" cy="141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94"/>
                </a:lnSpc>
              </a:pPr>
              <a:r>
                <a:rPr lang="en-US" sz="357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Die Betroffenen haben es selbst bemerkt.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71621" y="2684927"/>
            <a:ext cx="17149765" cy="717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64"/>
              </a:lnSpc>
            </a:pPr>
            <a:r>
              <a:rPr lang="en-US" sz="4800" b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Wer hat es entdeckt?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1976160" y="350371"/>
            <a:ext cx="13483914" cy="173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17"/>
              </a:lnSpc>
            </a:pPr>
            <a:r>
              <a:rPr lang="en-US" sz="12469" b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Entdecker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764151" y="197971"/>
            <a:ext cx="7127679" cy="1425536"/>
          </a:xfrm>
          <a:custGeom>
            <a:avLst/>
            <a:gdLst/>
            <a:ahLst/>
            <a:cxnLst/>
            <a:rect l="l" t="t" r="r" b="b"/>
            <a:pathLst>
              <a:path w="7127679" h="1425536">
                <a:moveTo>
                  <a:pt x="0" y="0"/>
                </a:moveTo>
                <a:lnTo>
                  <a:pt x="7127679" y="0"/>
                </a:lnTo>
                <a:lnTo>
                  <a:pt x="7127679" y="1425536"/>
                </a:lnTo>
                <a:lnTo>
                  <a:pt x="0" y="1425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6" name="Freeform 16"/>
          <p:cNvSpPr/>
          <p:nvPr/>
        </p:nvSpPr>
        <p:spPr>
          <a:xfrm>
            <a:off x="-521942" y="8737960"/>
            <a:ext cx="7127679" cy="1425536"/>
          </a:xfrm>
          <a:custGeom>
            <a:avLst/>
            <a:gdLst/>
            <a:ahLst/>
            <a:cxnLst/>
            <a:rect l="l" t="t" r="r" b="b"/>
            <a:pathLst>
              <a:path w="7127679" h="1425536">
                <a:moveTo>
                  <a:pt x="0" y="0"/>
                </a:moveTo>
                <a:lnTo>
                  <a:pt x="7127679" y="0"/>
                </a:lnTo>
                <a:lnTo>
                  <a:pt x="7127679" y="1425536"/>
                </a:lnTo>
                <a:lnTo>
                  <a:pt x="0" y="1425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17" name="Group 17"/>
          <p:cNvGrpSpPr/>
          <p:nvPr/>
        </p:nvGrpSpPr>
        <p:grpSpPr>
          <a:xfrm>
            <a:off x="608730" y="6699610"/>
            <a:ext cx="8824618" cy="1395186"/>
            <a:chOff x="0" y="0"/>
            <a:chExt cx="11766158" cy="1860248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635158" cy="1635158"/>
              <a:chOff x="0" y="0"/>
              <a:chExt cx="6350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01177" y="33198"/>
              <a:ext cx="1032804" cy="1435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019"/>
                </a:lnSpc>
                <a:spcBef>
                  <a:spcPct val="0"/>
                </a:spcBef>
              </a:pPr>
              <a:r>
                <a:rPr lang="en-US" sz="6442" b="1">
                  <a:solidFill>
                    <a:srgbClr val="FFFFFF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21281" y="441448"/>
              <a:ext cx="9544877" cy="141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94"/>
                </a:lnSpc>
              </a:pPr>
              <a:r>
                <a:rPr lang="en-US" sz="357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NATO und die EU wurden frühzeitig eingebunden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046503" y="5114925"/>
            <a:ext cx="7158658" cy="107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94"/>
              </a:lnSpc>
            </a:pPr>
            <a:r>
              <a:rPr lang="en-US" sz="3579">
                <a:solidFill>
                  <a:srgbClr val="AAAAA9"/>
                </a:solidFill>
                <a:latin typeface="Telegraf"/>
                <a:ea typeface="Telegraf"/>
                <a:cs typeface="Telegraf"/>
                <a:sym typeface="Telegraf"/>
              </a:rPr>
              <a:t>Parlament, Ministerien, Banken, Medienhäuser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4027" y="1173027"/>
            <a:ext cx="16428081" cy="1830247"/>
            <a:chOff x="0" y="0"/>
            <a:chExt cx="21904108" cy="244033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1904108" cy="2440330"/>
              <a:chOff x="0" y="0"/>
              <a:chExt cx="13038520" cy="145261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7150" y="58420"/>
                <a:ext cx="12968670" cy="1381497"/>
              </a:xfrm>
              <a:custGeom>
                <a:avLst/>
                <a:gdLst/>
                <a:ahLst/>
                <a:cxnLst/>
                <a:rect l="l" t="t" r="r" b="b"/>
                <a:pathLst>
                  <a:path w="12968670" h="1381497">
                    <a:moveTo>
                      <a:pt x="12883580" y="1351017"/>
                    </a:moveTo>
                    <a:lnTo>
                      <a:pt x="0" y="1351017"/>
                    </a:lnTo>
                    <a:cubicBezTo>
                      <a:pt x="5080" y="1368797"/>
                      <a:pt x="21590" y="1381497"/>
                      <a:pt x="40640" y="1381497"/>
                    </a:cubicBezTo>
                    <a:lnTo>
                      <a:pt x="12925490" y="1381497"/>
                    </a:lnTo>
                    <a:cubicBezTo>
                      <a:pt x="12949620" y="1381497"/>
                      <a:pt x="12968670" y="1362447"/>
                      <a:pt x="12968670" y="1338317"/>
                    </a:cubicBezTo>
                    <a:lnTo>
                      <a:pt x="12968670" y="40640"/>
                    </a:lnTo>
                    <a:cubicBezTo>
                      <a:pt x="12968670" y="21590"/>
                      <a:pt x="12955970" y="6350"/>
                      <a:pt x="12939460" y="0"/>
                    </a:cubicBezTo>
                    <a:lnTo>
                      <a:pt x="12939460" y="1295137"/>
                    </a:lnTo>
                    <a:cubicBezTo>
                      <a:pt x="12939460" y="1325617"/>
                      <a:pt x="12914060" y="1351017"/>
                      <a:pt x="12883580" y="1351017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12700" y="12700"/>
                <a:ext cx="12971210" cy="1384037"/>
              </a:xfrm>
              <a:custGeom>
                <a:avLst/>
                <a:gdLst/>
                <a:ahLst/>
                <a:cxnLst/>
                <a:rect l="l" t="t" r="r" b="b"/>
                <a:pathLst>
                  <a:path w="12971210" h="1384037">
                    <a:moveTo>
                      <a:pt x="43180" y="1384037"/>
                    </a:moveTo>
                    <a:lnTo>
                      <a:pt x="12928030" y="1384037"/>
                    </a:lnTo>
                    <a:cubicBezTo>
                      <a:pt x="12952160" y="1384037"/>
                      <a:pt x="12971210" y="1364987"/>
                      <a:pt x="12971210" y="1340857"/>
                    </a:cubicBezTo>
                    <a:lnTo>
                      <a:pt x="12971210" y="43180"/>
                    </a:lnTo>
                    <a:cubicBezTo>
                      <a:pt x="12971210" y="19050"/>
                      <a:pt x="12952160" y="0"/>
                      <a:pt x="12928030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340857"/>
                    </a:lnTo>
                    <a:cubicBezTo>
                      <a:pt x="0" y="1364987"/>
                      <a:pt x="19050" y="1384037"/>
                      <a:pt x="43180" y="1384037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0" y="0"/>
                <a:ext cx="13038520" cy="1452617"/>
              </a:xfrm>
              <a:custGeom>
                <a:avLst/>
                <a:gdLst/>
                <a:ahLst/>
                <a:cxnLst/>
                <a:rect l="l" t="t" r="r" b="b"/>
                <a:pathLst>
                  <a:path w="13038520" h="1452617">
                    <a:moveTo>
                      <a:pt x="12995340" y="44450"/>
                    </a:moveTo>
                    <a:cubicBezTo>
                      <a:pt x="12990260" y="19050"/>
                      <a:pt x="12967400" y="0"/>
                      <a:pt x="12940730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353557"/>
                    </a:lnTo>
                    <a:cubicBezTo>
                      <a:pt x="0" y="1380227"/>
                      <a:pt x="17780" y="1401817"/>
                      <a:pt x="43180" y="1408167"/>
                    </a:cubicBezTo>
                    <a:cubicBezTo>
                      <a:pt x="48260" y="1433567"/>
                      <a:pt x="71120" y="1452617"/>
                      <a:pt x="97790" y="1452617"/>
                    </a:cubicBezTo>
                    <a:lnTo>
                      <a:pt x="12982640" y="1452617"/>
                    </a:lnTo>
                    <a:cubicBezTo>
                      <a:pt x="13013120" y="1452617"/>
                      <a:pt x="13038520" y="1427217"/>
                      <a:pt x="13038520" y="1396737"/>
                    </a:cubicBezTo>
                    <a:lnTo>
                      <a:pt x="13038520" y="99060"/>
                    </a:lnTo>
                    <a:cubicBezTo>
                      <a:pt x="13038520" y="72390"/>
                      <a:pt x="13020740" y="50800"/>
                      <a:pt x="12995340" y="44450"/>
                    </a:cubicBezTo>
                    <a:close/>
                    <a:moveTo>
                      <a:pt x="12700" y="1353557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12940730" y="12700"/>
                    </a:lnTo>
                    <a:cubicBezTo>
                      <a:pt x="12964860" y="12700"/>
                      <a:pt x="12983910" y="31750"/>
                      <a:pt x="12983910" y="55880"/>
                    </a:cubicBezTo>
                    <a:lnTo>
                      <a:pt x="12983910" y="1353557"/>
                    </a:lnTo>
                    <a:cubicBezTo>
                      <a:pt x="12983910" y="1377687"/>
                      <a:pt x="12964860" y="1396737"/>
                      <a:pt x="12940730" y="1396737"/>
                    </a:cubicBezTo>
                    <a:lnTo>
                      <a:pt x="55880" y="1396737"/>
                    </a:lnTo>
                    <a:cubicBezTo>
                      <a:pt x="31750" y="1396737"/>
                      <a:pt x="12700" y="1377687"/>
                      <a:pt x="12700" y="1353557"/>
                    </a:cubicBezTo>
                    <a:close/>
                    <a:moveTo>
                      <a:pt x="13025820" y="1396737"/>
                    </a:moveTo>
                    <a:cubicBezTo>
                      <a:pt x="13025820" y="1420867"/>
                      <a:pt x="13006770" y="1439917"/>
                      <a:pt x="12982640" y="1439917"/>
                    </a:cubicBezTo>
                    <a:lnTo>
                      <a:pt x="97790" y="1439917"/>
                    </a:lnTo>
                    <a:cubicBezTo>
                      <a:pt x="78740" y="1439917"/>
                      <a:pt x="62230" y="1427217"/>
                      <a:pt x="57150" y="1409437"/>
                    </a:cubicBezTo>
                    <a:lnTo>
                      <a:pt x="12940730" y="1409437"/>
                    </a:lnTo>
                    <a:cubicBezTo>
                      <a:pt x="12971210" y="1409437"/>
                      <a:pt x="12996610" y="1384037"/>
                      <a:pt x="12996610" y="1353557"/>
                    </a:cubicBezTo>
                    <a:lnTo>
                      <a:pt x="12996610" y="58420"/>
                    </a:lnTo>
                    <a:cubicBezTo>
                      <a:pt x="13013120" y="64770"/>
                      <a:pt x="13025820" y="80010"/>
                      <a:pt x="13025820" y="99060"/>
                    </a:cubicBezTo>
                    <a:lnTo>
                      <a:pt x="13025820" y="139673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639352" y="625486"/>
              <a:ext cx="1189359" cy="1189359"/>
            </a:xfrm>
            <a:custGeom>
              <a:avLst/>
              <a:gdLst/>
              <a:ahLst/>
              <a:cxnLst/>
              <a:rect l="l" t="t" r="r" b="b"/>
              <a:pathLst>
                <a:path w="1189359" h="1189359">
                  <a:moveTo>
                    <a:pt x="0" y="0"/>
                  </a:moveTo>
                  <a:lnTo>
                    <a:pt x="1189359" y="0"/>
                  </a:lnTo>
                  <a:lnTo>
                    <a:pt x="1189359" y="1189358"/>
                  </a:lnTo>
                  <a:lnTo>
                    <a:pt x="0" y="1189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86178" y="900877"/>
              <a:ext cx="19015894" cy="8159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10"/>
                </a:lnSpc>
              </a:pPr>
              <a:r>
                <a:rPr lang="en-US" sz="3991" b="1">
                  <a:solidFill>
                    <a:srgbClr val="000000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Exakte beschreibung des Vorfalls mit informationen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22770" y="7329340"/>
            <a:ext cx="9850403" cy="2368915"/>
            <a:chOff x="0" y="0"/>
            <a:chExt cx="13133871" cy="3158553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825231" cy="1268241"/>
              <a:chOff x="0" y="0"/>
              <a:chExt cx="9138815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13881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9138815" h="6350000">
                    <a:moveTo>
                      <a:pt x="4569408" y="0"/>
                    </a:moveTo>
                    <a:cubicBezTo>
                      <a:pt x="2045793" y="0"/>
                      <a:pt x="0" y="1421496"/>
                      <a:pt x="0" y="3175000"/>
                    </a:cubicBezTo>
                    <a:cubicBezTo>
                      <a:pt x="0" y="4928504"/>
                      <a:pt x="2045793" y="6350000"/>
                      <a:pt x="4569408" y="6350000"/>
                    </a:cubicBezTo>
                    <a:cubicBezTo>
                      <a:pt x="7093022" y="6350000"/>
                      <a:pt x="9138815" y="4928504"/>
                      <a:pt x="9138815" y="3175000"/>
                    </a:cubicBezTo>
                    <a:cubicBezTo>
                      <a:pt x="9138815" y="1421496"/>
                      <a:pt x="7093022" y="0"/>
                      <a:pt x="456940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36186" y="43451"/>
              <a:ext cx="1152859" cy="912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739"/>
                </a:lnSpc>
                <a:spcBef>
                  <a:spcPct val="0"/>
                </a:spcBef>
              </a:pPr>
              <a:r>
                <a:rPr lang="en-US" sz="4099" b="1">
                  <a:solidFill>
                    <a:srgbClr val="FFFFFF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79485" y="326453"/>
              <a:ext cx="10654386" cy="2832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Aktueller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Status des Hacks?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großer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Beispiel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für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Cyberkrieg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abgeschlossen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und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nicht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mehr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aktiv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·Es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gibt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keine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„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Fortsetzung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“ der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Attacke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, </a:t>
              </a:r>
            </a:p>
            <a:p>
              <a:pPr algn="l">
                <a:lnSpc>
                  <a:spcPts val="3359"/>
                </a:lnSpc>
              </a:pPr>
              <a:endPara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66741" y="430293"/>
            <a:ext cx="7127679" cy="1425536"/>
          </a:xfrm>
          <a:custGeom>
            <a:avLst/>
            <a:gdLst/>
            <a:ahLst/>
            <a:cxnLst/>
            <a:rect l="l" t="t" r="r" b="b"/>
            <a:pathLst>
              <a:path w="7127679" h="1425536">
                <a:moveTo>
                  <a:pt x="0" y="0"/>
                </a:moveTo>
                <a:lnTo>
                  <a:pt x="7127680" y="0"/>
                </a:lnTo>
                <a:lnTo>
                  <a:pt x="7127680" y="1425536"/>
                </a:lnTo>
                <a:lnTo>
                  <a:pt x="0" y="1425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15" name="Group 15"/>
          <p:cNvGrpSpPr/>
          <p:nvPr/>
        </p:nvGrpSpPr>
        <p:grpSpPr>
          <a:xfrm>
            <a:off x="37441" y="4418060"/>
            <a:ext cx="8005716" cy="2171240"/>
            <a:chOff x="0" y="0"/>
            <a:chExt cx="10674288" cy="2894987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483420" cy="959400"/>
              <a:chOff x="0" y="0"/>
              <a:chExt cx="9818338" cy="6350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818338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9818338" h="6350000">
                    <a:moveTo>
                      <a:pt x="4909169" y="0"/>
                    </a:moveTo>
                    <a:cubicBezTo>
                      <a:pt x="2197910" y="0"/>
                      <a:pt x="0" y="1421496"/>
                      <a:pt x="0" y="3175000"/>
                    </a:cubicBezTo>
                    <a:cubicBezTo>
                      <a:pt x="0" y="4928504"/>
                      <a:pt x="2197910" y="6350000"/>
                      <a:pt x="4909169" y="6350000"/>
                    </a:cubicBezTo>
                    <a:cubicBezTo>
                      <a:pt x="7620429" y="6350000"/>
                      <a:pt x="9818338" y="4928504"/>
                      <a:pt x="9818338" y="3175000"/>
                    </a:cubicBezTo>
                    <a:cubicBezTo>
                      <a:pt x="9818338" y="1421496"/>
                      <a:pt x="7620429" y="0"/>
                      <a:pt x="490916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73228" y="2469"/>
              <a:ext cx="936963" cy="965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19"/>
                </a:lnSpc>
                <a:spcBef>
                  <a:spcPct val="0"/>
                </a:spcBef>
              </a:pPr>
              <a:r>
                <a:rPr lang="en-US" sz="4299" b="1">
                  <a:solidFill>
                    <a:srgbClr val="FFFFFF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15151" y="62887"/>
              <a:ext cx="8659137" cy="2832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Wie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wurde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die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attacke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durchgeführ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?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Eine Welle von DDoS-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Angriffen</a:t>
              </a:r>
              <a:endPara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Angreifer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Nutzten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ein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Botnetz</a:t>
              </a:r>
              <a:endPara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Ziel ⟶ 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Regierung,Parlament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,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usw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  <a:p>
              <a:pPr marL="604519" lvl="1" indent="-302260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führte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zu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mehrtätigen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Ausfällen</a:t>
              </a:r>
              <a:endPara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822770" y="4418060"/>
            <a:ext cx="9850403" cy="2590340"/>
            <a:chOff x="0" y="0"/>
            <a:chExt cx="13133871" cy="345378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825231" cy="959400"/>
              <a:chOff x="0" y="0"/>
              <a:chExt cx="12080692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080692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12080692" h="6350000">
                    <a:moveTo>
                      <a:pt x="6040346" y="0"/>
                    </a:moveTo>
                    <a:cubicBezTo>
                      <a:pt x="2704355" y="0"/>
                      <a:pt x="0" y="1421496"/>
                      <a:pt x="0" y="3175000"/>
                    </a:cubicBezTo>
                    <a:cubicBezTo>
                      <a:pt x="0" y="4928504"/>
                      <a:pt x="2704355" y="6350000"/>
                      <a:pt x="6040346" y="6350000"/>
                    </a:cubicBezTo>
                    <a:cubicBezTo>
                      <a:pt x="9376337" y="6350000"/>
                      <a:pt x="12080692" y="4928504"/>
                      <a:pt x="12080692" y="3175000"/>
                    </a:cubicBezTo>
                    <a:cubicBezTo>
                      <a:pt x="12080692" y="1421496"/>
                      <a:pt x="9376337" y="0"/>
                      <a:pt x="60403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336186" y="21519"/>
              <a:ext cx="1152859" cy="840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92"/>
                </a:lnSpc>
                <a:spcBef>
                  <a:spcPct val="0"/>
                </a:spcBef>
              </a:pPr>
              <a:r>
                <a:rPr lang="en-US" sz="3780" b="1">
                  <a:solidFill>
                    <a:srgbClr val="FFFFFF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79485" y="62887"/>
              <a:ext cx="10654386" cy="3390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Welche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Gegenmaßnahmen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wurden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durchgeführt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?</a:t>
              </a:r>
            </a:p>
            <a:p>
              <a:pPr marL="604518" lvl="1" indent="-302259" algn="l">
                <a:lnSpc>
                  <a:spcPts val="3359"/>
                </a:lnSpc>
                <a:buFont typeface="Arial"/>
                <a:buChar char="•"/>
              </a:pP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Estnische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Regierung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: </a:t>
              </a:r>
            </a:p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      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Blockierte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zugriffe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aus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dem Ausland</a:t>
              </a:r>
            </a:p>
            <a:p>
              <a:pPr marL="604518" lvl="1" indent="-302259" algn="l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Banken und Medien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Häuser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schränkten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Dienste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  <a:r>
                <a:rPr lang="en-US" sz="2799" dirty="0" err="1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ein</a:t>
              </a:r>
              <a:r>
                <a:rPr lang="en-US" sz="2799" dirty="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7441" y="7256051"/>
            <a:ext cx="1033172" cy="719550"/>
            <a:chOff x="0" y="0"/>
            <a:chExt cx="9117700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17700" cy="6350000"/>
            </a:xfrm>
            <a:custGeom>
              <a:avLst/>
              <a:gdLst/>
              <a:ahLst/>
              <a:cxnLst/>
              <a:rect l="l" t="t" r="r" b="b"/>
              <a:pathLst>
                <a:path w="9117700" h="6350000">
                  <a:moveTo>
                    <a:pt x="4558850" y="0"/>
                  </a:moveTo>
                  <a:cubicBezTo>
                    <a:pt x="2041067" y="0"/>
                    <a:pt x="0" y="1421496"/>
                    <a:pt x="0" y="3175000"/>
                  </a:cubicBezTo>
                  <a:cubicBezTo>
                    <a:pt x="0" y="4928504"/>
                    <a:pt x="2041067" y="6350000"/>
                    <a:pt x="4558850" y="6350000"/>
                  </a:cubicBezTo>
                  <a:cubicBezTo>
                    <a:pt x="7076634" y="6350000"/>
                    <a:pt x="9117700" y="4928504"/>
                    <a:pt x="9117700" y="3175000"/>
                  </a:cubicBezTo>
                  <a:cubicBezTo>
                    <a:pt x="9117700" y="1421496"/>
                    <a:pt x="7076634" y="0"/>
                    <a:pt x="455885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AT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27739" y="7253140"/>
            <a:ext cx="652576" cy="649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92"/>
              </a:lnSpc>
              <a:spcBef>
                <a:spcPct val="0"/>
              </a:spcBef>
            </a:pPr>
            <a:r>
              <a:rPr lang="en-US" sz="3780" b="1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40953" y="7293691"/>
            <a:ext cx="7381817" cy="255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Welche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Personen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waren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von dem 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Vorfall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betroffen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?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·Unmittelbar: 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estnische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Staatsbürger</a:t>
            </a:r>
            <a:endParaRPr lang="en-US" sz="27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·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Indirekt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: 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Unternehmen</a:t>
            </a:r>
            <a:endParaRPr lang="en-US" sz="27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·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Politisch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: 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estnische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Regierung</a:t>
            </a:r>
            <a:r>
              <a:rPr lang="en-US" sz="27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</a:p>
          <a:p>
            <a:pPr marL="604518" lvl="1" indent="-30225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-2241867" y="9574232"/>
            <a:ext cx="7127679" cy="1425536"/>
          </a:xfrm>
          <a:custGeom>
            <a:avLst/>
            <a:gdLst/>
            <a:ahLst/>
            <a:cxnLst/>
            <a:rect l="l" t="t" r="r" b="b"/>
            <a:pathLst>
              <a:path w="7127679" h="1425536">
                <a:moveTo>
                  <a:pt x="0" y="0"/>
                </a:moveTo>
                <a:lnTo>
                  <a:pt x="7127680" y="0"/>
                </a:lnTo>
                <a:lnTo>
                  <a:pt x="7127680" y="1425536"/>
                </a:lnTo>
                <a:lnTo>
                  <a:pt x="0" y="1425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30" name="TextBox 30"/>
          <p:cNvSpPr txBox="1"/>
          <p:nvPr/>
        </p:nvSpPr>
        <p:spPr>
          <a:xfrm>
            <a:off x="-318559" y="4036"/>
            <a:ext cx="9086627" cy="116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07"/>
              </a:lnSpc>
            </a:pPr>
            <a:r>
              <a:rPr lang="en-US" sz="8403" b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Beschreibung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1825" y="382862"/>
            <a:ext cx="12037131" cy="3617156"/>
            <a:chOff x="0" y="0"/>
            <a:chExt cx="19449828" cy="5844670"/>
          </a:xfrm>
        </p:grpSpPr>
        <p:sp>
          <p:nvSpPr>
            <p:cNvPr id="3" name="Freeform 3"/>
            <p:cNvSpPr/>
            <p:nvPr/>
          </p:nvSpPr>
          <p:spPr>
            <a:xfrm>
              <a:off x="57150" y="58420"/>
              <a:ext cx="19379978" cy="5773550"/>
            </a:xfrm>
            <a:custGeom>
              <a:avLst/>
              <a:gdLst/>
              <a:ahLst/>
              <a:cxnLst/>
              <a:rect l="l" t="t" r="r" b="b"/>
              <a:pathLst>
                <a:path w="19379978" h="5773550">
                  <a:moveTo>
                    <a:pt x="19294889" y="5743070"/>
                  </a:moveTo>
                  <a:lnTo>
                    <a:pt x="0" y="5743070"/>
                  </a:lnTo>
                  <a:cubicBezTo>
                    <a:pt x="5080" y="5760850"/>
                    <a:pt x="21590" y="5773550"/>
                    <a:pt x="40640" y="5773550"/>
                  </a:cubicBezTo>
                  <a:lnTo>
                    <a:pt x="19336798" y="5773550"/>
                  </a:lnTo>
                  <a:cubicBezTo>
                    <a:pt x="19360928" y="5773550"/>
                    <a:pt x="19379978" y="5754500"/>
                    <a:pt x="19379978" y="5730370"/>
                  </a:cubicBezTo>
                  <a:lnTo>
                    <a:pt x="19379978" y="40640"/>
                  </a:lnTo>
                  <a:cubicBezTo>
                    <a:pt x="19379978" y="21590"/>
                    <a:pt x="19367278" y="6350"/>
                    <a:pt x="19350769" y="0"/>
                  </a:cubicBezTo>
                  <a:lnTo>
                    <a:pt x="19350769" y="5687190"/>
                  </a:lnTo>
                  <a:cubicBezTo>
                    <a:pt x="19350769" y="5717670"/>
                    <a:pt x="19325369" y="5743070"/>
                    <a:pt x="19294889" y="574307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Freeform 4"/>
            <p:cNvSpPr/>
            <p:nvPr/>
          </p:nvSpPr>
          <p:spPr>
            <a:xfrm>
              <a:off x="12700" y="12700"/>
              <a:ext cx="19382519" cy="5776090"/>
            </a:xfrm>
            <a:custGeom>
              <a:avLst/>
              <a:gdLst/>
              <a:ahLst/>
              <a:cxnLst/>
              <a:rect l="l" t="t" r="r" b="b"/>
              <a:pathLst>
                <a:path w="19382519" h="5776090">
                  <a:moveTo>
                    <a:pt x="43180" y="5776090"/>
                  </a:moveTo>
                  <a:lnTo>
                    <a:pt x="19339339" y="5776090"/>
                  </a:lnTo>
                  <a:cubicBezTo>
                    <a:pt x="19363469" y="5776090"/>
                    <a:pt x="19382519" y="5757040"/>
                    <a:pt x="19382519" y="5732910"/>
                  </a:cubicBezTo>
                  <a:lnTo>
                    <a:pt x="19382519" y="43180"/>
                  </a:lnTo>
                  <a:cubicBezTo>
                    <a:pt x="19382519" y="19050"/>
                    <a:pt x="19363469" y="0"/>
                    <a:pt x="19339339" y="0"/>
                  </a:cubicBezTo>
                  <a:lnTo>
                    <a:pt x="43180" y="0"/>
                  </a:lnTo>
                  <a:cubicBezTo>
                    <a:pt x="19050" y="0"/>
                    <a:pt x="0" y="19050"/>
                    <a:pt x="0" y="43180"/>
                  </a:cubicBezTo>
                  <a:lnTo>
                    <a:pt x="0" y="5732910"/>
                  </a:lnTo>
                  <a:cubicBezTo>
                    <a:pt x="0" y="5757040"/>
                    <a:pt x="19050" y="5776090"/>
                    <a:pt x="43180" y="577609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9449828" cy="5844670"/>
            </a:xfrm>
            <a:custGeom>
              <a:avLst/>
              <a:gdLst/>
              <a:ahLst/>
              <a:cxnLst/>
              <a:rect l="l" t="t" r="r" b="b"/>
              <a:pathLst>
                <a:path w="19449828" h="5844670">
                  <a:moveTo>
                    <a:pt x="19406648" y="44450"/>
                  </a:moveTo>
                  <a:cubicBezTo>
                    <a:pt x="19401569" y="19050"/>
                    <a:pt x="19378709" y="0"/>
                    <a:pt x="19352039" y="0"/>
                  </a:cubicBezTo>
                  <a:lnTo>
                    <a:pt x="55880" y="0"/>
                  </a:lnTo>
                  <a:cubicBezTo>
                    <a:pt x="25400" y="0"/>
                    <a:pt x="0" y="25400"/>
                    <a:pt x="0" y="55880"/>
                  </a:cubicBezTo>
                  <a:lnTo>
                    <a:pt x="0" y="5745610"/>
                  </a:lnTo>
                  <a:cubicBezTo>
                    <a:pt x="0" y="5772280"/>
                    <a:pt x="17780" y="5793870"/>
                    <a:pt x="43180" y="5800220"/>
                  </a:cubicBezTo>
                  <a:cubicBezTo>
                    <a:pt x="48260" y="5825620"/>
                    <a:pt x="71120" y="5844670"/>
                    <a:pt x="97790" y="5844670"/>
                  </a:cubicBezTo>
                  <a:lnTo>
                    <a:pt x="19393948" y="5844670"/>
                  </a:lnTo>
                  <a:cubicBezTo>
                    <a:pt x="19424428" y="5844670"/>
                    <a:pt x="19449828" y="5819270"/>
                    <a:pt x="19449828" y="5788790"/>
                  </a:cubicBezTo>
                  <a:lnTo>
                    <a:pt x="19449828" y="99060"/>
                  </a:lnTo>
                  <a:cubicBezTo>
                    <a:pt x="19449828" y="72390"/>
                    <a:pt x="19432048" y="50800"/>
                    <a:pt x="19406648" y="44450"/>
                  </a:cubicBezTo>
                  <a:close/>
                  <a:moveTo>
                    <a:pt x="12700" y="5745610"/>
                  </a:moveTo>
                  <a:lnTo>
                    <a:pt x="12700" y="55880"/>
                  </a:lnTo>
                  <a:cubicBezTo>
                    <a:pt x="12700" y="31750"/>
                    <a:pt x="31750" y="12700"/>
                    <a:pt x="55880" y="12700"/>
                  </a:cubicBezTo>
                  <a:lnTo>
                    <a:pt x="19352039" y="12700"/>
                  </a:lnTo>
                  <a:cubicBezTo>
                    <a:pt x="19376169" y="12700"/>
                    <a:pt x="19395219" y="31750"/>
                    <a:pt x="19395219" y="55880"/>
                  </a:cubicBezTo>
                  <a:lnTo>
                    <a:pt x="19395219" y="5745610"/>
                  </a:lnTo>
                  <a:cubicBezTo>
                    <a:pt x="19395219" y="5769740"/>
                    <a:pt x="19376169" y="5788790"/>
                    <a:pt x="19352039" y="5788790"/>
                  </a:cubicBezTo>
                  <a:lnTo>
                    <a:pt x="55880" y="5788790"/>
                  </a:lnTo>
                  <a:cubicBezTo>
                    <a:pt x="31750" y="5788790"/>
                    <a:pt x="12700" y="5769740"/>
                    <a:pt x="12700" y="5745610"/>
                  </a:cubicBezTo>
                  <a:close/>
                  <a:moveTo>
                    <a:pt x="19437128" y="5788790"/>
                  </a:moveTo>
                  <a:cubicBezTo>
                    <a:pt x="19437128" y="5812920"/>
                    <a:pt x="19418078" y="5831970"/>
                    <a:pt x="19393948" y="5831970"/>
                  </a:cubicBezTo>
                  <a:lnTo>
                    <a:pt x="97790" y="5831970"/>
                  </a:lnTo>
                  <a:cubicBezTo>
                    <a:pt x="78740" y="5831970"/>
                    <a:pt x="62230" y="5819270"/>
                    <a:pt x="57150" y="5801490"/>
                  </a:cubicBezTo>
                  <a:lnTo>
                    <a:pt x="19352039" y="5801490"/>
                  </a:lnTo>
                  <a:cubicBezTo>
                    <a:pt x="19382519" y="5801490"/>
                    <a:pt x="19407919" y="5776090"/>
                    <a:pt x="19407919" y="5745610"/>
                  </a:cubicBezTo>
                  <a:lnTo>
                    <a:pt x="19407919" y="58420"/>
                  </a:lnTo>
                  <a:cubicBezTo>
                    <a:pt x="19424428" y="64770"/>
                    <a:pt x="19437128" y="80010"/>
                    <a:pt x="19437128" y="99060"/>
                  </a:cubicBezTo>
                  <a:lnTo>
                    <a:pt x="19437128" y="5788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de-AT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1398750"/>
            <a:ext cx="11378655" cy="173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17"/>
              </a:lnSpc>
            </a:pPr>
            <a:r>
              <a:rPr lang="en-US" sz="12469" b="1">
                <a:solidFill>
                  <a:srgbClr val="000000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Quellen</a:t>
            </a:r>
          </a:p>
        </p:txBody>
      </p:sp>
      <p:grpSp>
        <p:nvGrpSpPr>
          <p:cNvPr id="7" name="Group 7"/>
          <p:cNvGrpSpPr/>
          <p:nvPr/>
        </p:nvGrpSpPr>
        <p:grpSpPr>
          <a:xfrm rot="637641">
            <a:off x="13957352" y="7429066"/>
            <a:ext cx="2325457" cy="1770481"/>
            <a:chOff x="0" y="0"/>
            <a:chExt cx="3100609" cy="2360641"/>
          </a:xfrm>
        </p:grpSpPr>
        <p:grpSp>
          <p:nvGrpSpPr>
            <p:cNvPr id="8" name="Group 8"/>
            <p:cNvGrpSpPr/>
            <p:nvPr/>
          </p:nvGrpSpPr>
          <p:grpSpPr>
            <a:xfrm rot="-265570">
              <a:off x="77191" y="135811"/>
              <a:ext cx="2946226" cy="2114296"/>
              <a:chOff x="0" y="0"/>
              <a:chExt cx="2389119" cy="17145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160" y="16510"/>
                <a:ext cx="2366259" cy="1686560"/>
              </a:xfrm>
              <a:custGeom>
                <a:avLst/>
                <a:gdLst/>
                <a:ahLst/>
                <a:cxnLst/>
                <a:rect l="l" t="t" r="r" b="b"/>
                <a:pathLst>
                  <a:path w="2366259" h="1686560">
                    <a:moveTo>
                      <a:pt x="2366259" y="1686560"/>
                    </a:moveTo>
                    <a:lnTo>
                      <a:pt x="0" y="1678940"/>
                    </a:lnTo>
                    <a:lnTo>
                      <a:pt x="0" y="598170"/>
                    </a:lnTo>
                    <a:lnTo>
                      <a:pt x="17780" y="19050"/>
                    </a:lnTo>
                    <a:lnTo>
                      <a:pt x="1177809" y="0"/>
                    </a:lnTo>
                    <a:lnTo>
                      <a:pt x="2347209" y="5080"/>
                    </a:lnTo>
                    <a:close/>
                  </a:path>
                </a:pathLst>
              </a:custGeom>
              <a:solidFill>
                <a:srgbClr val="94DD26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-3810" y="0"/>
                <a:ext cx="2395469" cy="1713230"/>
              </a:xfrm>
              <a:custGeom>
                <a:avLst/>
                <a:gdLst/>
                <a:ahLst/>
                <a:cxnLst/>
                <a:rect l="l" t="t" r="r" b="b"/>
                <a:pathLst>
                  <a:path w="2395469" h="1713230">
                    <a:moveTo>
                      <a:pt x="2361179" y="21590"/>
                    </a:moveTo>
                    <a:cubicBezTo>
                      <a:pt x="2362449" y="34290"/>
                      <a:pt x="2362449" y="44450"/>
                      <a:pt x="2363719" y="54610"/>
                    </a:cubicBezTo>
                    <a:cubicBezTo>
                      <a:pt x="2366259" y="88900"/>
                      <a:pt x="2367529" y="124460"/>
                      <a:pt x="2370069" y="158750"/>
                    </a:cubicBezTo>
                    <a:cubicBezTo>
                      <a:pt x="2370069" y="208280"/>
                      <a:pt x="2382769" y="1184910"/>
                      <a:pt x="2389119" y="1234440"/>
                    </a:cubicBezTo>
                    <a:cubicBezTo>
                      <a:pt x="2395469" y="1309370"/>
                      <a:pt x="2391659" y="1385570"/>
                      <a:pt x="2391659" y="1460500"/>
                    </a:cubicBezTo>
                    <a:cubicBezTo>
                      <a:pt x="2391659" y="1526540"/>
                      <a:pt x="2392929" y="1587500"/>
                      <a:pt x="2394199" y="1652270"/>
                    </a:cubicBezTo>
                    <a:cubicBezTo>
                      <a:pt x="2394199" y="1673860"/>
                      <a:pt x="2394199" y="1687830"/>
                      <a:pt x="2394199" y="1711960"/>
                    </a:cubicBezTo>
                    <a:cubicBezTo>
                      <a:pt x="2371339" y="1711960"/>
                      <a:pt x="2351019" y="1713230"/>
                      <a:pt x="2328491" y="1711960"/>
                    </a:cubicBezTo>
                    <a:cubicBezTo>
                      <a:pt x="2210837" y="1706880"/>
                      <a:pt x="2091374" y="1713230"/>
                      <a:pt x="1973721" y="1708150"/>
                    </a:cubicBezTo>
                    <a:cubicBezTo>
                      <a:pt x="1903129" y="1704340"/>
                      <a:pt x="1834347" y="1706880"/>
                      <a:pt x="1763755" y="1704340"/>
                    </a:cubicBezTo>
                    <a:cubicBezTo>
                      <a:pt x="1731174" y="1703070"/>
                      <a:pt x="1698593" y="1701800"/>
                      <a:pt x="1666012" y="1700530"/>
                    </a:cubicBezTo>
                    <a:cubicBezTo>
                      <a:pt x="1646102" y="1700530"/>
                      <a:pt x="1628001" y="1701800"/>
                      <a:pt x="1608091" y="1701800"/>
                    </a:cubicBezTo>
                    <a:cubicBezTo>
                      <a:pt x="1557409" y="1700530"/>
                      <a:pt x="1418035" y="1701800"/>
                      <a:pt x="1367354" y="1700530"/>
                    </a:cubicBezTo>
                    <a:cubicBezTo>
                      <a:pt x="1331153" y="1699260"/>
                      <a:pt x="607133" y="1708150"/>
                      <a:pt x="570932" y="1706880"/>
                    </a:cubicBezTo>
                    <a:cubicBezTo>
                      <a:pt x="561882" y="1706880"/>
                      <a:pt x="551021" y="1708150"/>
                      <a:pt x="541971" y="1708150"/>
                    </a:cubicBezTo>
                    <a:cubicBezTo>
                      <a:pt x="520251" y="1708150"/>
                      <a:pt x="500340" y="1709420"/>
                      <a:pt x="478619" y="1709420"/>
                    </a:cubicBezTo>
                    <a:cubicBezTo>
                      <a:pt x="424318" y="1709420"/>
                      <a:pt x="371826" y="1708150"/>
                      <a:pt x="317525" y="1706880"/>
                    </a:cubicBezTo>
                    <a:cubicBezTo>
                      <a:pt x="284944" y="1705610"/>
                      <a:pt x="252363" y="1704340"/>
                      <a:pt x="221592" y="1703070"/>
                    </a:cubicBezTo>
                    <a:cubicBezTo>
                      <a:pt x="163671" y="1701800"/>
                      <a:pt x="105749" y="1700530"/>
                      <a:pt x="48260" y="1700530"/>
                    </a:cubicBezTo>
                    <a:cubicBezTo>
                      <a:pt x="38100" y="1700530"/>
                      <a:pt x="29210" y="1700530"/>
                      <a:pt x="19050" y="1699260"/>
                    </a:cubicBezTo>
                    <a:cubicBezTo>
                      <a:pt x="10160" y="1697990"/>
                      <a:pt x="5080" y="1691640"/>
                      <a:pt x="7620" y="1682750"/>
                    </a:cubicBezTo>
                    <a:cubicBezTo>
                      <a:pt x="16510" y="1651000"/>
                      <a:pt x="12700" y="1619250"/>
                      <a:pt x="11430" y="1586230"/>
                    </a:cubicBezTo>
                    <a:cubicBezTo>
                      <a:pt x="10160" y="1518920"/>
                      <a:pt x="6350" y="1452880"/>
                      <a:pt x="7620" y="1385570"/>
                    </a:cubicBezTo>
                    <a:cubicBezTo>
                      <a:pt x="5080" y="1301750"/>
                      <a:pt x="0" y="264160"/>
                      <a:pt x="7620" y="179070"/>
                    </a:cubicBezTo>
                    <a:cubicBezTo>
                      <a:pt x="8890" y="162560"/>
                      <a:pt x="7620" y="144780"/>
                      <a:pt x="8890" y="128270"/>
                    </a:cubicBezTo>
                    <a:cubicBezTo>
                      <a:pt x="10160" y="101600"/>
                      <a:pt x="12700" y="72390"/>
                      <a:pt x="13970" y="44450"/>
                    </a:cubicBezTo>
                    <a:cubicBezTo>
                      <a:pt x="13970" y="41910"/>
                      <a:pt x="15240" y="39370"/>
                      <a:pt x="16510" y="38100"/>
                    </a:cubicBezTo>
                    <a:cubicBezTo>
                      <a:pt x="38100" y="35560"/>
                      <a:pt x="60498" y="30480"/>
                      <a:pt x="89459" y="29210"/>
                    </a:cubicBezTo>
                    <a:cubicBezTo>
                      <a:pt x="138330" y="25400"/>
                      <a:pt x="187201" y="22860"/>
                      <a:pt x="237883" y="20320"/>
                    </a:cubicBezTo>
                    <a:cubicBezTo>
                      <a:pt x="272274" y="17780"/>
                      <a:pt x="306665" y="16510"/>
                      <a:pt x="339246" y="13970"/>
                    </a:cubicBezTo>
                    <a:cubicBezTo>
                      <a:pt x="371826" y="11430"/>
                      <a:pt x="406217" y="8890"/>
                      <a:pt x="438798" y="8890"/>
                    </a:cubicBezTo>
                    <a:cubicBezTo>
                      <a:pt x="474999" y="7620"/>
                      <a:pt x="511200" y="10160"/>
                      <a:pt x="547401" y="8890"/>
                    </a:cubicBezTo>
                    <a:cubicBezTo>
                      <a:pt x="592653" y="8890"/>
                      <a:pt x="1412605" y="6350"/>
                      <a:pt x="1457857" y="5080"/>
                    </a:cubicBezTo>
                    <a:cubicBezTo>
                      <a:pt x="1501298" y="3810"/>
                      <a:pt x="1544739" y="2540"/>
                      <a:pt x="1589990" y="2540"/>
                    </a:cubicBezTo>
                    <a:cubicBezTo>
                      <a:pt x="1664202" y="1270"/>
                      <a:pt x="1736604" y="0"/>
                      <a:pt x="1810816" y="0"/>
                    </a:cubicBezTo>
                    <a:cubicBezTo>
                      <a:pt x="1841587" y="0"/>
                      <a:pt x="1874168" y="2540"/>
                      <a:pt x="1904939" y="2540"/>
                    </a:cubicBezTo>
                    <a:cubicBezTo>
                      <a:pt x="1990011" y="3810"/>
                      <a:pt x="2076894" y="5080"/>
                      <a:pt x="2161966" y="7620"/>
                    </a:cubicBezTo>
                    <a:cubicBezTo>
                      <a:pt x="2207217" y="8890"/>
                      <a:pt x="2252468" y="12700"/>
                      <a:pt x="2297720" y="16510"/>
                    </a:cubicBezTo>
                    <a:cubicBezTo>
                      <a:pt x="2308580" y="16510"/>
                      <a:pt x="2319440" y="16510"/>
                      <a:pt x="2328491" y="16510"/>
                    </a:cubicBezTo>
                    <a:cubicBezTo>
                      <a:pt x="2342129" y="17780"/>
                      <a:pt x="2351019" y="20320"/>
                      <a:pt x="2361179" y="21590"/>
                    </a:cubicBezTo>
                    <a:close/>
                    <a:moveTo>
                      <a:pt x="2371339" y="1695450"/>
                    </a:moveTo>
                    <a:cubicBezTo>
                      <a:pt x="2372609" y="1678940"/>
                      <a:pt x="2373879" y="1666240"/>
                      <a:pt x="2373879" y="1653540"/>
                    </a:cubicBezTo>
                    <a:cubicBezTo>
                      <a:pt x="2372609" y="1581150"/>
                      <a:pt x="2371339" y="1513840"/>
                      <a:pt x="2371339" y="1441450"/>
                    </a:cubicBezTo>
                    <a:cubicBezTo>
                      <a:pt x="2371339" y="1408430"/>
                      <a:pt x="2373879" y="1375410"/>
                      <a:pt x="2372609" y="1342390"/>
                    </a:cubicBezTo>
                    <a:cubicBezTo>
                      <a:pt x="2372609" y="1311910"/>
                      <a:pt x="2371339" y="1280160"/>
                      <a:pt x="2370069" y="1249680"/>
                    </a:cubicBezTo>
                    <a:cubicBezTo>
                      <a:pt x="2364989" y="1202690"/>
                      <a:pt x="2353559" y="229870"/>
                      <a:pt x="2353559" y="182880"/>
                    </a:cubicBezTo>
                    <a:cubicBezTo>
                      <a:pt x="2351019" y="143510"/>
                      <a:pt x="2348479" y="102870"/>
                      <a:pt x="2345939" y="63500"/>
                    </a:cubicBezTo>
                    <a:cubicBezTo>
                      <a:pt x="2344669" y="44450"/>
                      <a:pt x="2343399" y="43180"/>
                      <a:pt x="2323060" y="41910"/>
                    </a:cubicBezTo>
                    <a:cubicBezTo>
                      <a:pt x="2317630" y="41910"/>
                      <a:pt x="2314010" y="41910"/>
                      <a:pt x="2308580" y="40640"/>
                    </a:cubicBezTo>
                    <a:cubicBezTo>
                      <a:pt x="2263329" y="36830"/>
                      <a:pt x="2216267" y="31750"/>
                      <a:pt x="2171016" y="30480"/>
                    </a:cubicBezTo>
                    <a:cubicBezTo>
                      <a:pt x="2060603" y="26670"/>
                      <a:pt x="1948380" y="25400"/>
                      <a:pt x="1837967" y="22860"/>
                    </a:cubicBezTo>
                    <a:cubicBezTo>
                      <a:pt x="1821677" y="22860"/>
                      <a:pt x="1803576" y="22860"/>
                      <a:pt x="1787286" y="22860"/>
                    </a:cubicBezTo>
                    <a:cubicBezTo>
                      <a:pt x="1760135" y="22860"/>
                      <a:pt x="1732984" y="22860"/>
                      <a:pt x="1707643" y="22860"/>
                    </a:cubicBezTo>
                    <a:cubicBezTo>
                      <a:pt x="1649722" y="22860"/>
                      <a:pt x="1591800" y="22860"/>
                      <a:pt x="1535689" y="24130"/>
                    </a:cubicBezTo>
                    <a:cubicBezTo>
                      <a:pt x="1486817" y="25400"/>
                      <a:pt x="663245" y="29210"/>
                      <a:pt x="614373" y="29210"/>
                    </a:cubicBezTo>
                    <a:cubicBezTo>
                      <a:pt x="534731" y="29210"/>
                      <a:pt x="455089" y="26670"/>
                      <a:pt x="375447" y="33020"/>
                    </a:cubicBezTo>
                    <a:cubicBezTo>
                      <a:pt x="333815" y="36830"/>
                      <a:pt x="293994" y="36830"/>
                      <a:pt x="254173" y="38100"/>
                    </a:cubicBezTo>
                    <a:cubicBezTo>
                      <a:pt x="185391" y="41910"/>
                      <a:pt x="116609" y="45720"/>
                      <a:pt x="49530" y="50800"/>
                    </a:cubicBezTo>
                    <a:cubicBezTo>
                      <a:pt x="36830" y="50800"/>
                      <a:pt x="34290" y="53340"/>
                      <a:pt x="33020" y="68580"/>
                    </a:cubicBezTo>
                    <a:cubicBezTo>
                      <a:pt x="31750" y="91440"/>
                      <a:pt x="31750" y="114300"/>
                      <a:pt x="30480" y="137160"/>
                    </a:cubicBezTo>
                    <a:cubicBezTo>
                      <a:pt x="29210" y="175260"/>
                      <a:pt x="26670" y="212090"/>
                      <a:pt x="25400" y="250190"/>
                    </a:cubicBezTo>
                    <a:cubicBezTo>
                      <a:pt x="20320" y="290830"/>
                      <a:pt x="26670" y="1283970"/>
                      <a:pt x="29210" y="1324610"/>
                    </a:cubicBezTo>
                    <a:cubicBezTo>
                      <a:pt x="29210" y="1367790"/>
                      <a:pt x="29210" y="1412240"/>
                      <a:pt x="30480" y="1455420"/>
                    </a:cubicBezTo>
                    <a:cubicBezTo>
                      <a:pt x="30480" y="1487170"/>
                      <a:pt x="33020" y="1518920"/>
                      <a:pt x="33020" y="1550670"/>
                    </a:cubicBezTo>
                    <a:cubicBezTo>
                      <a:pt x="33020" y="1584960"/>
                      <a:pt x="33020" y="1619250"/>
                      <a:pt x="31750" y="1653540"/>
                    </a:cubicBezTo>
                    <a:cubicBezTo>
                      <a:pt x="31750" y="1657350"/>
                      <a:pt x="31750" y="1659890"/>
                      <a:pt x="31750" y="1663700"/>
                    </a:cubicBezTo>
                    <a:cubicBezTo>
                      <a:pt x="31750" y="1673860"/>
                      <a:pt x="35560" y="1677670"/>
                      <a:pt x="44450" y="1677670"/>
                    </a:cubicBezTo>
                    <a:cubicBezTo>
                      <a:pt x="64118" y="1677670"/>
                      <a:pt x="89459" y="1678940"/>
                      <a:pt x="112989" y="1678940"/>
                    </a:cubicBezTo>
                    <a:cubicBezTo>
                      <a:pt x="147380" y="1678940"/>
                      <a:pt x="183581" y="1676400"/>
                      <a:pt x="217972" y="1678940"/>
                    </a:cubicBezTo>
                    <a:cubicBezTo>
                      <a:pt x="274084" y="1682750"/>
                      <a:pt x="330195" y="1685290"/>
                      <a:pt x="386307" y="1684020"/>
                    </a:cubicBezTo>
                    <a:cubicBezTo>
                      <a:pt x="422508" y="1682750"/>
                      <a:pt x="456899" y="1685290"/>
                      <a:pt x="493100" y="1685290"/>
                    </a:cubicBezTo>
                    <a:cubicBezTo>
                      <a:pt x="545591" y="1685290"/>
                      <a:pt x="598083" y="1684020"/>
                      <a:pt x="650574" y="1685290"/>
                    </a:cubicBezTo>
                    <a:cubicBezTo>
                      <a:pt x="728406" y="1686560"/>
                      <a:pt x="1582750" y="1676400"/>
                      <a:pt x="1662392" y="1678940"/>
                    </a:cubicBezTo>
                    <a:cubicBezTo>
                      <a:pt x="1696783" y="1680210"/>
                      <a:pt x="1731174" y="1681480"/>
                      <a:pt x="1763755" y="1681480"/>
                    </a:cubicBezTo>
                    <a:cubicBezTo>
                      <a:pt x="1823487" y="1684020"/>
                      <a:pt x="1881408" y="1680210"/>
                      <a:pt x="1941140" y="1684020"/>
                    </a:cubicBezTo>
                    <a:cubicBezTo>
                      <a:pt x="1990011" y="1686560"/>
                      <a:pt x="2038882" y="1686560"/>
                      <a:pt x="2087754" y="1689100"/>
                    </a:cubicBezTo>
                    <a:cubicBezTo>
                      <a:pt x="2160156" y="1692910"/>
                      <a:pt x="2232558" y="1695450"/>
                      <a:pt x="2304960" y="1696720"/>
                    </a:cubicBezTo>
                    <a:cubicBezTo>
                      <a:pt x="2332111" y="1696720"/>
                      <a:pt x="2351019" y="1695450"/>
                      <a:pt x="2371339" y="169545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de-AT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-265570">
              <a:off x="294066" y="721166"/>
              <a:ext cx="2521652" cy="848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94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Danke fürs Teilnehmen.</a:t>
              </a:r>
            </a:p>
          </p:txBody>
        </p:sp>
        <p:sp>
          <p:nvSpPr>
            <p:cNvPr id="12" name="AutoShape 12"/>
            <p:cNvSpPr/>
            <p:nvPr/>
          </p:nvSpPr>
          <p:spPr>
            <a:xfrm rot="-467291">
              <a:off x="1186538" y="38429"/>
              <a:ext cx="580769" cy="199801"/>
            </a:xfrm>
            <a:prstGeom prst="rect">
              <a:avLst/>
            </a:prstGeom>
            <a:solidFill>
              <a:srgbClr val="000000"/>
            </a:solidFill>
          </p:spPr>
          <p:txBody>
            <a:bodyPr/>
            <a:lstStyle/>
            <a:p>
              <a:endParaRPr lang="de-AT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0" y="4680902"/>
            <a:ext cx="15660120" cy="303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/>
              </a:rPr>
              <a:t>https://cyber-peace.org/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redaktion42.com/2025/01/14/estland-10-der-cyberangriff-auf-estland-2007-der-erste-digitale-krieg/"/>
              </a:rPr>
              <a:t>Estland (10): Der </a:t>
            </a:r>
            <a:r>
              <a:rPr lang="en-US" sz="33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redaktion42.com/2025/01/14/estland-10-der-cyberangriff-auf-estland-2007-der-erste-digitale-krieg/"/>
              </a:rPr>
              <a:t>Cyberangriff</a:t>
            </a:r>
            <a:r>
              <a:rPr lang="en-US" sz="33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redaktion42.com/2025/01/14/estland-10-der-cyberangriff-auf-estland-2007-der-erste-digitale-krieg/"/>
              </a:rPr>
              <a:t> auf Estland 2007 – Der </a:t>
            </a:r>
            <a:r>
              <a:rPr lang="en-US" sz="33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redaktion42.com/2025/01/14/estland-10-der-cyberangriff-auf-estland-2007-der-erste-digitale-krieg/"/>
              </a:rPr>
              <a:t>erste</a:t>
            </a:r>
            <a:r>
              <a:rPr lang="en-US" sz="33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redaktion42.com/2025/01/14/estland-10-der-cyberangriff-auf-estland-2007-der-erste-digitale-krieg/"/>
              </a:rPr>
              <a:t> </a:t>
            </a:r>
            <a:r>
              <a:rPr lang="en-US" sz="33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redaktion42.com/2025/01/14/estland-10-der-cyberangriff-auf-estland-2007-der-erste-digitale-krieg/"/>
              </a:rPr>
              <a:t>digitale</a:t>
            </a:r>
            <a:r>
              <a:rPr lang="en-US" sz="33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redaktion42.com/2025/01/14/estland-10-der-cyberangriff-auf-estland-2007-der-erste-digitale-krieg/"/>
              </a:rPr>
              <a:t> Krieg | redaktion42's </a:t>
            </a:r>
            <a:r>
              <a:rPr lang="en-US" sz="33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redaktion42.com/2025/01/14/estland-10-der-cyberangriff-auf-estland-2007-der-erste-digitale-krieg/"/>
              </a:rPr>
              <a:t>Webl</a:t>
            </a:r>
            <a:r>
              <a:rPr lang="en-US" sz="33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redaktion42.com/2025/01/14/estland-10-der-cyberangriff-auf-estland-2007-der-erste-digitale-krieg/"/>
              </a:rPr>
              <a:t>…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thought2action.org/cyberspace-as-an-integral-part-of-modern-competition-lessons-from-the-2007-cyber-attack-on-estonia/?utm_source=chatgpt.com"/>
              </a:rPr>
              <a:t>Thought To Action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de.wikipedia.org/wiki/Cyberattacke_auf_Estland_2007"/>
              </a:rPr>
              <a:t>Cyberattacke</a:t>
            </a:r>
            <a:r>
              <a:rPr lang="en-US" sz="33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de.wikipedia.org/wiki/Cyberattacke_auf_Estland_2007"/>
              </a:rPr>
              <a:t> auf Estland 2007 – Wikipedia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764151" y="197971"/>
            <a:ext cx="7127679" cy="1425536"/>
          </a:xfrm>
          <a:custGeom>
            <a:avLst/>
            <a:gdLst/>
            <a:ahLst/>
            <a:cxnLst/>
            <a:rect l="l" t="t" r="r" b="b"/>
            <a:pathLst>
              <a:path w="7127679" h="1425536">
                <a:moveTo>
                  <a:pt x="0" y="0"/>
                </a:moveTo>
                <a:lnTo>
                  <a:pt x="7127679" y="0"/>
                </a:lnTo>
                <a:lnTo>
                  <a:pt x="7127679" y="1425536"/>
                </a:lnTo>
                <a:lnTo>
                  <a:pt x="0" y="1425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6" name="Freeform 16"/>
          <p:cNvSpPr/>
          <p:nvPr/>
        </p:nvSpPr>
        <p:spPr>
          <a:xfrm>
            <a:off x="-792063" y="8545532"/>
            <a:ext cx="7127679" cy="1425536"/>
          </a:xfrm>
          <a:custGeom>
            <a:avLst/>
            <a:gdLst/>
            <a:ahLst/>
            <a:cxnLst/>
            <a:rect l="l" t="t" r="r" b="b"/>
            <a:pathLst>
              <a:path w="7127679" h="1425536">
                <a:moveTo>
                  <a:pt x="0" y="0"/>
                </a:moveTo>
                <a:lnTo>
                  <a:pt x="7127679" y="0"/>
                </a:lnTo>
                <a:lnTo>
                  <a:pt x="7127679" y="1425536"/>
                </a:lnTo>
                <a:lnTo>
                  <a:pt x="0" y="1425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Benutzerdefiniert</PresentationFormat>
  <Paragraphs>50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Calibri</vt:lpstr>
      <vt:lpstr>Arial</vt:lpstr>
      <vt:lpstr>Canva Sans</vt:lpstr>
      <vt:lpstr>RoxboroughCF Bold</vt:lpstr>
      <vt:lpstr>Telegraf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SSDE</dc:title>
  <dc:creator>HP-Laptop</dc:creator>
  <cp:lastModifiedBy>Ünal Beyza</cp:lastModifiedBy>
  <cp:revision>2</cp:revision>
  <dcterms:created xsi:type="dcterms:W3CDTF">2006-08-16T00:00:00Z</dcterms:created>
  <dcterms:modified xsi:type="dcterms:W3CDTF">2025-09-18T09:07:47Z</dcterms:modified>
  <dc:identifier>DAGyqfXPzfI</dc:identifier>
</cp:coreProperties>
</file>